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11064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NBA Market Mispricing Detection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548640" y="31546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8DA9C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behavioral asset-pricing test of crowd miscalibration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3886200"/>
            <a:ext cx="3200400" cy="73152"/>
          </a:xfrm>
          <a:prstGeom prst="rect">
            <a:avLst/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1148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 Yin Ivan Sit · Vishnu Manathattai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4617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Prof. Xiaowu Dai · Spring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Halawi to live markets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Midterm → final · the bridge (30 sec)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508760"/>
            <a:ext cx="11247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Midterm result, one line: 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Halawi et al. (NeurIPS 2024) showed LMs approach the crowd on forecasting Brier (0.179 vs 0.149) — and the buried gem is that a </a:t>
            </a:r>
            <a:pPr indent="0" marL="0">
              <a:buNone/>
            </a:pPr>
            <a:r>
              <a:rPr lang="en-US" sz="18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4:1 LM + crowd aggregate beats either alone.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269748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deeper observation: 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miscalibrated, in opposite directions. </a:t>
            </a:r>
            <a:pPr indent="0" marL="0">
              <a:buNone/>
            </a:pPr>
            <a:r>
              <a:rPr lang="en-US" sz="18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LMs hedge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(RLHF). </a:t>
            </a:r>
            <a:pPr indent="0" marL="0">
              <a:buNone/>
            </a:pPr>
            <a:r>
              <a:rPr lang="en-US" sz="18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Crowds overreact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(Moskowitz 2021, Ötting 2022).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02920" y="3886200"/>
            <a:ext cx="11247120" cy="1920240"/>
          </a:xfrm>
          <a:prstGeom prst="roundRect">
            <a:avLst>
              <a:gd name="adj" fmla="val 4762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40233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question: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4389120"/>
            <a:ext cx="106984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can we cleanly test the claim that a calibrated model beats the crowd — with fast resolution, real money, and a documented bias?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NBA, not crypto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transition · the rest is NBA (30 sec)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251960"/>
                <a:gridCol w="425196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NBA in-play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Crypto 5-min lead-lag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 truth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state → outcome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calibration problem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proxy labels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stat-arb on noisy data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Literature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Moskowitz 2021 (J. Finance) 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 result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Sifat et al. 2019 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'barely exploitable' (negative)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Legal venue (CA)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Kalshi NBA event contracts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(CFTC-regulated)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~1,230 games × hundreds of ticks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thinner per-event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57607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331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Trade with the literature, not against it, on the venue we can actually use.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planned · 6 ways to detect mispricing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constraints forced us down to 2 (highlighted)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937760"/>
                <a:gridCol w="338328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to run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Cross-venue consensus deviation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multi-venue in-play odds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⏸  blocked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Calibrated win-probability vs market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PBP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 BUILT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Halawi-style weighted aggregate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#1 + in-play odds history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⏸  blocked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Time-series mean-reversion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in-play odds history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⏸  blocked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Event-conditioned overreaction test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PBP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 BUILT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Cross-book hard arbitrage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multi-venue history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⏸  descriptive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5349240"/>
            <a:ext cx="11247120" cy="960120"/>
          </a:xfrm>
          <a:prstGeom prst="roundRect">
            <a:avLst>
              <a:gd name="adj" fmla="val 7619"/>
            </a:avLst>
          </a:prstGeom>
          <a:solidFill>
            <a:srgbClr val="F6F6F2"/>
          </a:solidFill>
          <a:ln w="16510">
            <a:solidFill>
              <a:srgbClr val="1C729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544068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two we built are the only two that work from play-by-play alone. The other four are gated on multi-venue in-play odds history we don't have.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question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Pre-registered before any test-set data was touched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08760"/>
            <a:ext cx="11247120" cy="1691640"/>
          </a:xfrm>
          <a:prstGeom prst="roundRect">
            <a:avLst>
              <a:gd name="adj" fmla="val 5405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9164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 a calibrated in-game NBA win-probability model systematically identify live-market mispricings driven by crowd overreaction — specifically in trailing-team scoring events?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02920" y="35204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pre-registered tests: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39776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(primary)</a:t>
            </a:r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trailing team in 10–15 pt deficit hits a made FG → market over-shifts vs structural model.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46177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H4 (secondary)</a:t>
            </a:r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trailing team in ≥10 pt deficit hits a made 3-pointer → larger over-shift.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" y="566928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Block-bootstrap by game (n = games, not ticks). Holm-Bonferroni across the pre-registered set.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Pipeline · model side + market side meet at the edge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 + system flow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pipeline_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11247120" cy="3931920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532120"/>
          <a:ext cx="11247120" cy="914400"/>
        </p:xfrm>
        <a:graphic>
          <a:graphicData uri="http://schemas.openxmlformats.org/drawingml/2006/table">
            <a:tbl>
              <a:tblPr/>
              <a:tblGrid>
                <a:gridCol w="2811780"/>
                <a:gridCol w="2811780"/>
                <a:gridCol w="2811780"/>
                <a:gridCol w="28117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Sportsbook odds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Kalshi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Snapshots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nba_api · 2,460 games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the-odds-api · 9 books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API · 1H winner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59,040 rows · 4 features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calibrated win-probability model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in · how it works · what comes out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63040"/>
            <a:ext cx="3474720" cy="3566160"/>
          </a:xfrm>
          <a:prstGeom prst="roundRect">
            <a:avLst>
              <a:gd name="adj" fmla="val 2632"/>
            </a:avLst>
          </a:prstGeom>
          <a:solidFill>
            <a:srgbClr val="F6F6F2"/>
          </a:solidFill>
          <a:ln w="20320">
            <a:solidFill>
              <a:srgbClr val="0B25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554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  ·  at tick 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18745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game-state features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2286000"/>
            <a:ext cx="32004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minute_idx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  minutes elapsed in 1H (1–24)
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score_diff_home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  home – away (signed)
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recent_run_diff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  pts diff over last 120s
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period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quarter (1 or 2)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46634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 vector of 4 numbers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0" y="2971800"/>
            <a:ext cx="502920" cy="548640"/>
          </a:xfrm>
          <a:prstGeom prst="rightArrow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463040"/>
            <a:ext cx="3474720" cy="3566160"/>
          </a:xfrm>
          <a:prstGeom prst="roundRect">
            <a:avLst>
              <a:gd name="adj" fmla="val 263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554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54880" y="18745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2023-24 · 1,199 games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54880" y="2286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XGBoost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754880" y="26517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6F6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300 trees · depth 4 · lr 0.05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54880" y="30175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↓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754880" y="3429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Isotonic calibration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754880" y="38404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held-out validation fold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0.70 truly = 70% empirically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754880" y="46634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 calibrated number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366760" y="2971800"/>
            <a:ext cx="502920" cy="548640"/>
          </a:xfrm>
          <a:prstGeom prst="rightArrow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006840" y="1463040"/>
            <a:ext cx="2788920" cy="3566160"/>
          </a:xfrm>
          <a:prstGeom prst="roundRect">
            <a:avLst>
              <a:gd name="adj" fmla="val 3279"/>
            </a:avLst>
          </a:prstGeom>
          <a:solidFill>
            <a:srgbClr val="F6F6F2"/>
          </a:solidFill>
          <a:ln w="20320">
            <a:solidFill>
              <a:srgbClr val="EEA0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06840" y="1554480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006840" y="187452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probability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006840" y="228600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p̂_t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9006840" y="278892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P(home wins 1H)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06840" y="310896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in [0, 1]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006840" y="3474720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e.g.  0.87  =  87%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006840" y="393192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Brier 0.149  ·  ECE 0.008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006840" y="420624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2024-25 held-out season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9006840" y="466344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trustworthy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02920" y="5257800"/>
            <a:ext cx="1124712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77240" y="53492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77240" y="56692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minute_idx=18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(5 min left in half),  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score_diff_home=+6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 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recent_run_diff=+4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 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period=2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600" b="1" dirty="0">
                <a:solidFill>
                  <a:srgbClr val="EE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p̂ = 0.87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Calibration result · out-of-sample 2024-25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figure #1 · the probabilities can be trusted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reliability_v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7040880" cy="49377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18120" y="141732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818120" y="14630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Brier (lower = better)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818120" y="178308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0.149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7818120" y="249631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well-calibrated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818120" y="301752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18120" y="30632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818120" y="338328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0.008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7818120" y="409651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near-zero miscalibration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818120" y="461772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18120" y="46634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sample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818120" y="498348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1,230</a:t>
            </a:r>
            <a:endParaRPr lang="en-US" sz="3800" dirty="0"/>
          </a:p>
        </p:txBody>
      </p:sp>
      <p:sp>
        <p:nvSpPr>
          <p:cNvPr id="17" name="Text 14"/>
          <p:cNvSpPr/>
          <p:nvPr/>
        </p:nvSpPr>
        <p:spPr>
          <a:xfrm>
            <a:off x="7818120" y="569671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games · 2024-25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02920" y="63550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fall on the diagonal across all deciles — predicted probabilities match observed frequencies.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overreaction test · pre-registered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figure #2 · held-out 2024-25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v5_shif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17320"/>
            <a:ext cx="6766560" cy="4572000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69480" y="1554480"/>
          <a:ext cx="44348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6916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events / games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— trail 10–15, made FG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4,596 / 947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H4 — trail ≥10, made 3PT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2,162 / 780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7269480" y="3337560"/>
            <a:ext cx="4434840" cy="1280160"/>
          </a:xfrm>
          <a:prstGeom prst="roundRect">
            <a:avLst>
              <a:gd name="adj" fmla="val 5714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452360" y="3429000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Δp̂_scorer(t)  =  p̂(t+60) − p̂(t)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7452360" y="4160520"/>
            <a:ext cx="4069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shift over the 60s after a made FG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7269480" y="4754880"/>
            <a:ext cx="4434840" cy="1600200"/>
          </a:xfrm>
          <a:prstGeom prst="roundRect">
            <a:avLst>
              <a:gd name="adj" fmla="val 5714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452360" y="48463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behavioral question: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7452360" y="5166360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the market shift more than this?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Backtest engine · the equations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5/5 honesty gates pass on synthetic data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11247120" cy="960120"/>
          </a:xfrm>
          <a:prstGeom prst="roundRect">
            <a:avLst>
              <a:gd name="adj" fmla="val 7619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5087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edge_t  =  p̂_t  −  p_market_t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85800" y="19202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core: where the variant's fair value disagrees with the de-vigged market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251460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6060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p_devig  =  p_home_raw / (p_home_raw + p_away_raw)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85800" y="30175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multiplicative two-way de-vig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63640" y="251460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26060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f*  =  ( b · p  −  q ) / b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46520" y="30175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Kelly fraction · b = decimal−1, q = 1−p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703320"/>
          <a:ext cx="1124712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7607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Honesty gate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proves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const-0.5 → Brier 0.25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metrics wired correctly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always-favorite → loses ≈ vig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doesn't invent free money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perfect on biased mkt → +14% ROI, p=0.000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CAN detect a real edge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market-as-variant → 0 bets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fake edge against the market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502920" y="60807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Block-bootstrap by GAME (not tick) — within-game ticks share one outcome; effective n is games.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pilot · SAS @ OKC, 2026-05-26  (FINAL OKC 127–114)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figure #3 · 73 in-1H ticks · 6 books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pilot_ro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17320"/>
            <a:ext cx="6858000" cy="4572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60920" y="1417320"/>
            <a:ext cx="4434840" cy="4617720"/>
          </a:xfrm>
          <a:prstGeom prst="roundRect">
            <a:avLst>
              <a:gd name="adj" fmla="val 2062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89520" y="155448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lesson IS the result.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7589520" y="2103120"/>
            <a:ext cx="4114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faded SA (underdog) early when the score was close.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589520" y="26060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OKC pulled away and won 127–114.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589520" y="3108960"/>
            <a:ext cx="4114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'Always favorite' looks brilliant — </a:t>
            </a:r>
            <a:pPr indent="0" marL="0">
              <a:buNone/>
            </a:pPr>
            <a:r>
              <a:rPr lang="en-US" sz="13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because the favorite happened to win this one game.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589520" y="4572000"/>
            <a:ext cx="4114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</a:t>
            </a:r>
            <a:pPr indent="0" marL="0">
              <a:buNone/>
            </a:pPr>
            <a:r>
              <a:rPr lang="en-US" sz="13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n=1 problem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made tangible — the methodological backbone of the project.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Liquidity × sample size are everything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model family · two opposite results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liquidity_samp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8880" y="1417320"/>
            <a:ext cx="7315200" cy="4572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5943600"/>
            <a:ext cx="11247120" cy="640080"/>
          </a:xfrm>
          <a:prstGeom prst="roundRect">
            <a:avLst>
              <a:gd name="adj" fmla="val 11429"/>
            </a:avLst>
          </a:prstGeom>
          <a:solidFill>
            <a:srgbClr val="F6F6F2"/>
          </a:solidFill>
          <a:ln w="16510">
            <a:solidFill>
              <a:srgbClr val="EEA02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59893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+100% against Kalshi is </a:t>
            </a:r>
            <a:pPr algn="ctr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 mid-prices + n=4 + no slippage</a:t>
            </a:r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exactly the trap CLAUDE.md warns about. Real liquid markets are tight.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Connecting back to Halawi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Aggregate column — applied to NBA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63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Halawi's buried result:  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4·LM + 1·crowd &gt; either alone — because the errors are </a:t>
            </a:r>
            <a:pPr indent="0" marL="0">
              <a:buNone/>
            </a:pPr>
            <a:r>
              <a:rPr lang="en-US" sz="1800" b="1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219456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structural model and the live market are also </a:t>
            </a:r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partly independent error sources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model reads game state, market absorbs sentiment + inside flow.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02920" y="3291840"/>
            <a:ext cx="11247120" cy="1371600"/>
          </a:xfrm>
          <a:prstGeom prst="roundRect">
            <a:avLst>
              <a:gd name="adj" fmla="val 5333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3832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p̂_aggregate  =  w · p_model  +  ( 1 − w ) · p_market_devig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85800" y="42062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'aggregate' variant (#3 in the planned table) — weight from validation Brier · aggregate's Brier ≤ min(components)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4846320"/>
            <a:ext cx="11247120" cy="1508760"/>
          </a:xfrm>
          <a:prstGeom prst="roundRect">
            <a:avLst>
              <a:gd name="adj" fmla="val 6061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Reframing: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534924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model's job isn't to BEAT the market everywhere — it's to COMPLEMENT it in the specific situations where the crowd's bias is strongest (H1 / H4).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 &amp; future work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we'd do next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5087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Sample size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520440" y="15087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backtest needs ~1,000 liquid-market games. Two paths: paid the-odds-api historical (~$59, one month) or playoff capture (free, accumulating).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26517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Horizon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520440" y="26517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is 1st-half winner; live demo extended to full-game via parallel model (Brier 0.207). Snapshots are 1H-only — 2nd-half coverage requires rebuilding.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37947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 reactivity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520440" y="37947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deployment would face adverse selection + sportsbook limits. Kalshi (peer-to-peer) sidesteps the account-limit issue.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" y="49377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Variants V1/V3/V4/V6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520440" y="49377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Architecturally ready in the shared eval harness; need multi-venue in-play history to fit &amp; evaluate.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Verdict · what works + can it make money?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questions, answered honestly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5486400" cy="4846320"/>
          </a:xfrm>
          <a:prstGeom prst="roundRect">
            <a:avLst>
              <a:gd name="adj" fmla="val 1887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5544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EFFECTIVE METHOD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192024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Event-conditioned overreaction test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42316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variant with a statistically significant finding on the held-out test season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3154680"/>
          <a:ext cx="51206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325880"/>
                <a:gridCol w="13258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6F6F2"/>
                          </a:solidFill>
                        </a:rPr>
                        <a:t>Test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6F6F2"/>
                          </a:solidFill>
                        </a:rPr>
                        <a:t>Shift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6F6F2"/>
                          </a:solidFill>
                        </a:rPr>
                        <a:t>p-value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</a:rPr>
                        <a:t>H1 trail 10–15, FG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</a:rPr>
                        <a:t>+0.0075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</a:rPr>
                        <a:t>&lt; 0.0001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</a:rPr>
                        <a:t>H4 trail ≥10, 3PT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</a:rPr>
                        <a:t>+0.0138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</a:rPr>
                        <a:t>&lt; 0.0001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85800" y="46177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pre-registered tests pass on 2024-25 held-out.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85800" y="493776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Backed by the calibrated model (Brier 0.149). The other 4 planned methods are blocked on data.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85800" y="5486400"/>
            <a:ext cx="5120640" cy="64008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548640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bias is statistically real.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63640" y="1417320"/>
            <a:ext cx="5486400" cy="4846320"/>
          </a:xfrm>
          <a:prstGeom prst="roundRect">
            <a:avLst>
              <a:gd name="adj" fmla="val 1887"/>
            </a:avLst>
          </a:prstGeom>
          <a:solidFill>
            <a:srgbClr val="F6F6F2"/>
          </a:solidFill>
          <a:ln w="19050">
            <a:solidFill>
              <a:srgbClr val="EEA0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46520" y="15544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IT MAKE MONEY?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446520" y="192024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yet — but it's not 'no.'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6446520" y="2606040"/>
            <a:ext cx="164592" cy="777240"/>
          </a:xfrm>
          <a:prstGeom prst="rect">
            <a:avLst/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675120" y="260604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· NO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675120" y="288036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game vs liquid books: n=1 → −40% (noise). Kalshi +95% = stale-mid artifact.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446520" y="3474720"/>
            <a:ext cx="164592" cy="77724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675120" y="347472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· YES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675120" y="374904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V5 H1/H4 pre-reg passed on the held-out season. The overreaction is real.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446520" y="4343400"/>
            <a:ext cx="164592" cy="7772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675120" y="43434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· CLEAR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675120" y="461772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the backtest ($59 historical) → V5-targeted strategy on Kalshi (legal, no limits).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446520" y="5486400"/>
            <a:ext cx="5120640" cy="64008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46520" y="548640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Gated on data scale, not on methodology.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502920" y="63550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you. Questions?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UCLA STATS 211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Live NBA Market Mispricing Detection</dc:title>
  <dc:subject>PptxGenJS Presentation</dc:subject>
  <dc:creator>Ming Yin Ivan Sit &amp; Vishnu Manathattai</dc:creator>
  <cp:lastModifiedBy>Ming Yin Ivan Sit &amp; Vishnu Manathattai</cp:lastModifiedBy>
  <cp:revision>1</cp:revision>
  <dcterms:created xsi:type="dcterms:W3CDTF">2026-05-29T04:23:24Z</dcterms:created>
  <dcterms:modified xsi:type="dcterms:W3CDTF">2026-05-29T04:23:24Z</dcterms:modified>
</cp:coreProperties>
</file>