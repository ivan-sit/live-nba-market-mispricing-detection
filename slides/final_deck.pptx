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0"/>
            <a:ext cx="11064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NBA Market Mispricing Detection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548640" y="31546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8DA9C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behavioral asset-pricing test of crowd miscalibration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3886200"/>
            <a:ext cx="3200400" cy="73152"/>
          </a:xfrm>
          <a:prstGeom prst="rect">
            <a:avLst/>
          </a:prstGeom>
          <a:solidFill>
            <a:srgbClr val="EEA02B"/>
          </a:solidFill>
          <a:ln w="12700">
            <a:solidFill>
              <a:srgbClr val="EEA0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1148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Ming Yin Ivan Sit · Vishnu Manathattai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46177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Prof. Xiaowu Dai · Spring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Halawi to live markets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Midterm → final · the bridge (30 sec)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508760"/>
            <a:ext cx="11247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Midterm result, one line: 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Halawi et al. (NeurIPS 2024) showed LMs approach the crowd on forecasting Brier (0.179 vs 0.149) — and the buried gem is that a </a:t>
            </a:r>
            <a:pPr indent="0" marL="0">
              <a:buNone/>
            </a:pPr>
            <a:r>
              <a:rPr lang="en-US" sz="18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4:1 LM + crowd aggregate beats either alone.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269748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deeper observation: 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miscalibrated, in opposite directions. </a:t>
            </a:r>
            <a:pPr indent="0" marL="0">
              <a:buNone/>
            </a:pPr>
            <a:r>
              <a:rPr lang="en-US" sz="18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LMs hedge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(RLHF). </a:t>
            </a:r>
            <a:pPr indent="0" marL="0">
              <a:buNone/>
            </a:pPr>
            <a:r>
              <a:rPr lang="en-US" sz="18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Crowds overreact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(Moskowitz 2021, Ötting 2022).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02920" y="3886200"/>
            <a:ext cx="11247120" cy="1920240"/>
          </a:xfrm>
          <a:prstGeom prst="roundRect">
            <a:avLst>
              <a:gd name="adj" fmla="val 4762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40233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question: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4389120"/>
            <a:ext cx="106984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can we cleanly test the claim that a calibrated model beats the crowd — with fast resolution, real money, and a documented bias?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NBA, not crypto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transition · the rest is NBA (30 sec)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112471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251960"/>
                <a:gridCol w="425196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NBA in-play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Crypto 5-min lead-lag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 truth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state → outcome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calibration problem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proxy labels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stat-arb on noisy data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Literature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Moskowitz 2021 (J. Finance) 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 result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Sifat et al. 2019 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'barely exploitable' (negative)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Legal venue (CA)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Kalshi NBA event contracts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(CFTC-regulated)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~1,230 games × hundreds of ticks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thinner per-event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57607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1331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Trade with the literature, not against it, on the venue we can actually use.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question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Pre-registered before any test-set data was touched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08760"/>
            <a:ext cx="11247120" cy="1691640"/>
          </a:xfrm>
          <a:prstGeom prst="roundRect">
            <a:avLst>
              <a:gd name="adj" fmla="val 5405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91640"/>
            <a:ext cx="10698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 a calibrated in-game NBA win-probability model systematically identify live-market mispricings driven by crowd overreaction — specifically in trailing-team scoring events?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02920" y="352044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pre-registered tests: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39776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(primary)</a:t>
            </a:r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trailing team in 10–15 pt deficit hits a made FG → market over-shifts vs structural model.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46177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H4 (secondary)</a:t>
            </a:r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trailing team in ≥10 pt deficit hits a made 3-pointer → larger over-shift.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" y="566928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Block-bootstrap by game (n = games, not ticks). Holm-Bonferroni across the pre-registered set.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Pipeline · model side + market side meet at the edge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 + system flow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pic>
        <p:nvPicPr>
          <p:cNvPr id="5" name="Image 0" descr="slides/figures/pipeline_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11247120" cy="3931920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532120"/>
          <a:ext cx="11247120" cy="914400"/>
        </p:xfrm>
        <a:graphic>
          <a:graphicData uri="http://schemas.openxmlformats.org/drawingml/2006/table">
            <a:tbl>
              <a:tblPr/>
              <a:tblGrid>
                <a:gridCol w="2811780"/>
                <a:gridCol w="2811780"/>
                <a:gridCol w="2811780"/>
                <a:gridCol w="28117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PBP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Sportsbook odds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Kalshi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Snapshots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nba_api · 2,460 games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the-odds-api · 9 books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API · 1H winner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59,040 rows · 4 features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model (V2)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interpretable, defensible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63040"/>
            <a:ext cx="11247120" cy="1280160"/>
          </a:xfrm>
          <a:prstGeom prst="roundRect">
            <a:avLst>
              <a:gd name="adj" fmla="val 5714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5544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p̂_t  =  isotonic( XGBoost(x_t ; θ) 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85800" y="22860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x_t = [minute_idx, score_diff_home, recent_run_diff, period]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" y="2880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features.  </a:t>
            </a:r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handles non-linear interactions (e.g. score-diff × time-remaining) that logistic regression can't.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" y="35204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Isotonic calibration  </a:t>
            </a:r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held-out fold — wraps raw probabilities so 0.70 means 70% empirically.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" y="41605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Ablation:  </a:t>
            </a:r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engineered features (leverage, possession proxy) did </a:t>
            </a:r>
            <a:pPr indent="0" marL="0">
              <a:buNone/>
            </a:pPr>
            <a:r>
              <a:rPr lang="en-US" sz="1600" b="1" i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beat the 0.005-Brier threshold → kept simple.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02920" y="493776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F6F6F2"/>
          </a:solidFill>
          <a:ln w="12700">
            <a:solidFill>
              <a:srgbClr val="8DA9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5029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simple is right for a 3-page paper: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77240" y="5440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choice defensible. No overfitting story. Brier-comparable to published NBA in-game WP models (Bashuk; Lopez &amp; Matthews).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Calibration result · out-of-sample 2024-25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figure #1 · the probabilities can be trusted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pic>
        <p:nvPicPr>
          <p:cNvPr id="5" name="Image 0" descr="slides/figures/reliability_v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7040880" cy="49377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18120" y="1417320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818120" y="14630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Brier (lower = better)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818120" y="1783080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0.149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7818120" y="249631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well-calibrated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818120" y="3017520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18120" y="30632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818120" y="3383280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0.008</a:t>
            </a:r>
            <a:endParaRPr lang="en-US" sz="3800" dirty="0"/>
          </a:p>
        </p:txBody>
      </p:sp>
      <p:sp>
        <p:nvSpPr>
          <p:cNvPr id="13" name="Text 10"/>
          <p:cNvSpPr/>
          <p:nvPr/>
        </p:nvSpPr>
        <p:spPr>
          <a:xfrm>
            <a:off x="7818120" y="409651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near-zero miscalibration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818120" y="4617720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18120" y="46634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sample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818120" y="4983480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1,230</a:t>
            </a:r>
            <a:endParaRPr lang="en-US" sz="3800" dirty="0"/>
          </a:p>
        </p:txBody>
      </p:sp>
      <p:sp>
        <p:nvSpPr>
          <p:cNvPr id="17" name="Text 14"/>
          <p:cNvSpPr/>
          <p:nvPr/>
        </p:nvSpPr>
        <p:spPr>
          <a:xfrm>
            <a:off x="7818120" y="569671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games · 2024-25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02920" y="635508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fall on the diagonal across all deciles — predicted probabilities match observed frequencies.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Mispricing thesis (V5) · pre-registered tests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figure #2 · held-out 2024-25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pic>
        <p:nvPicPr>
          <p:cNvPr id="5" name="Image 0" descr="slides/figures/v5_shif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17320"/>
            <a:ext cx="6766560" cy="457200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69480" y="1554480"/>
          <a:ext cx="44348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6916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events / games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— trail 10–15, made FG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4,596 / 947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H4 — trail ≥10, made 3PT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2,162 / 780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7269480" y="3337560"/>
            <a:ext cx="4434840" cy="1280160"/>
          </a:xfrm>
          <a:prstGeom prst="roundRect">
            <a:avLst>
              <a:gd name="adj" fmla="val 5714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452360" y="3429000"/>
            <a:ext cx="4069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Δp̂_scorer(t)  =  p̂(t+60) − p̂(t)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7452360" y="4160520"/>
            <a:ext cx="4069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shift over the 60s after a made FG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7269480" y="4754880"/>
            <a:ext cx="4434840" cy="1600200"/>
          </a:xfrm>
          <a:prstGeom prst="roundRect">
            <a:avLst>
              <a:gd name="adj" fmla="val 5714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452360" y="48463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behavioral question: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7452360" y="5166360"/>
            <a:ext cx="4114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the market shift more than this?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Backtest engine · the equations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5/5 honesty gates pass on synthetic data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11247120" cy="960120"/>
          </a:xfrm>
          <a:prstGeom prst="roundRect">
            <a:avLst>
              <a:gd name="adj" fmla="val 7619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5087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edge_t  =  p̂_t  −  p_market_t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85800" y="19202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core: where the variant's fair value disagrees with the de-vigged market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251460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6060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p_devig  =  p_home_raw / (p_home_raw + p_away_raw)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85800" y="30175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multiplicative two-way de-vig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63640" y="251460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26060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f*  =  ( b · p  −  q ) / b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46520" y="30175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Kelly fraction · b = decimal−1, q = 1−p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703320"/>
          <a:ext cx="1124712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7607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Honesty gate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proves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const-0.5 → Brier 0.25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metrics wired correctly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always-favorite → loses ≈ vig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doesn't invent free money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perfect on biased mkt → +14% ROI, p=0.000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CAN detect a real edge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market-as-variant → 0 bets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fake edge against the market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502920" y="60807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Block-bootstrap by GAME (not tick) — within-game ticks share one outcome; effective n is games.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pilot · SAS @ OKC, 2026-05-26  (FINAL OKC 127–114)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figure #3 · 73 in-1H ticks · 6 books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pic>
        <p:nvPicPr>
          <p:cNvPr id="5" name="Image 0" descr="slides/figures/pilot_ro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17320"/>
            <a:ext cx="6858000" cy="4572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60920" y="1417320"/>
            <a:ext cx="4434840" cy="4617720"/>
          </a:xfrm>
          <a:prstGeom prst="roundRect">
            <a:avLst>
              <a:gd name="adj" fmla="val 2062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89520" y="155448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lesson IS the result.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7589520" y="2103120"/>
            <a:ext cx="4114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faded SA (underdog) early when the score was close.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589520" y="26060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OKC pulled away and won 127–114.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589520" y="3108960"/>
            <a:ext cx="4114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'Always favorite' looks brilliant — </a:t>
            </a:r>
            <a:pPr indent="0" marL="0">
              <a:buNone/>
            </a:pPr>
            <a:r>
              <a:rPr lang="en-US" sz="13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because the favorite happened to win this one game.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589520" y="4572000"/>
            <a:ext cx="4114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</a:t>
            </a:r>
            <a:pPr indent="0" marL="0">
              <a:buNone/>
            </a:pPr>
            <a:r>
              <a:rPr lang="en-US" sz="13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n=1 problem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made tangible — the methodological backbone of the project.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Liquidity × sample size are everything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model family · two opposite results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pic>
        <p:nvPicPr>
          <p:cNvPr id="5" name="Image 0" descr="slides/figures/liquidity_samp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8880" y="1417320"/>
            <a:ext cx="7315200" cy="4572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5943600"/>
            <a:ext cx="11247120" cy="640080"/>
          </a:xfrm>
          <a:prstGeom prst="roundRect">
            <a:avLst>
              <a:gd name="adj" fmla="val 11429"/>
            </a:avLst>
          </a:prstGeom>
          <a:solidFill>
            <a:srgbClr val="F6F6F2"/>
          </a:solidFill>
          <a:ln w="16510">
            <a:solidFill>
              <a:srgbClr val="EEA02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59893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+100% against Kalshi is </a:t>
            </a:r>
            <a:pPr algn="ctr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 mid-prices + n=4 + no slippage</a:t>
            </a:r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exactly the trap CLAUDE.md warns about. Real liquid markets are tight.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Connecting back to Halawi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Aggregate column — applied to NBA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63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Halawi's buried result:  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4·LM + 1·crowd &gt; either alone — because the errors are </a:t>
            </a:r>
            <a:pPr indent="0" marL="0">
              <a:buNone/>
            </a:pPr>
            <a:r>
              <a:rPr lang="en-US" sz="1800" b="1" i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219456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structural model and the live market are also </a:t>
            </a:r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partly independent error sources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model reads game state, market absorbs sentiment + inside flow.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02920" y="3291840"/>
            <a:ext cx="11247120" cy="1371600"/>
          </a:xfrm>
          <a:prstGeom prst="roundRect">
            <a:avLst>
              <a:gd name="adj" fmla="val 5333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33832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p̂_aggregate  =  w · p_model  +  ( 1 − w ) · p_market_devig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85800" y="42062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 — weight chosen by validation Brier; aggregate's Brier ≤ min(component Briers)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4846320"/>
            <a:ext cx="11247120" cy="1508760"/>
          </a:xfrm>
          <a:prstGeom prst="roundRect">
            <a:avLst>
              <a:gd name="adj" fmla="val 6061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Reframing: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77240" y="534924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model's job isn't to BEAT the market everywhere — it's to COMPLEMENT it in the specific situations where the crowd's bias is strongest (H1 / H4).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 &amp; future work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we'd do next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5087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Sample size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520440" y="150876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backtest needs ~1,000 liquid-market games. Two paths: paid the-odds-api historical (~$59, one month) or playoff capture (free, accumulating).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26517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Horizon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520440" y="265176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is 1st-half winner; live demo extended to full-game via parallel model (Brier 0.207). Snapshots are 1H-only — 2nd-half coverage requires rebuilding.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37947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 reactivity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520440" y="379476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deployment would face adverse selection + sportsbook limits. Kalshi (peer-to-peer) sidesteps the account-limit issue.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" y="49377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Variants V1/V3/V4/V6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520440" y="493776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Architecturally ready in the shared eval harness; need multi-venue in-play history to fit &amp; evaluate.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shipped, and what it says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457200" cy="457200"/>
          </a:xfrm>
          <a:prstGeom prst="ellipse">
            <a:avLst/>
          </a:prstGeom>
          <a:solidFill>
            <a:srgbClr val="EEA02B"/>
          </a:solidFill>
          <a:ln w="12700">
            <a:solidFill>
              <a:srgbClr val="EEA0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5727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43000" y="15087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Calibrated WP model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43000" y="19202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Brier 0.149 OOS · ECE 0.008 — simple, defensible artifact.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2514600"/>
            <a:ext cx="457200" cy="457200"/>
          </a:xfrm>
          <a:prstGeom prst="ellipse">
            <a:avLst/>
          </a:prstGeom>
          <a:solidFill>
            <a:srgbClr val="EEA02B"/>
          </a:solidFill>
          <a:ln w="12700">
            <a:solidFill>
              <a:srgbClr val="EEA0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5328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43000" y="246888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Pre-registered behavioral test passed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143000" y="28803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Trailing-team overreaction is real on the held-out season (p &lt; 0.0001).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474720"/>
            <a:ext cx="457200" cy="457200"/>
          </a:xfrm>
          <a:prstGeom prst="ellipse">
            <a:avLst/>
          </a:prstGeom>
          <a:solidFill>
            <a:srgbClr val="EEA02B"/>
          </a:solidFill>
          <a:ln w="12700">
            <a:solidFill>
              <a:srgbClr val="EEA0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34930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143000" y="342900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 pipeline runs end-to-end on real data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143000" y="38404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→ de-vig → edge → Kelly → settle → bootstrap. 5/5 honesty gates.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2920" y="4434840"/>
            <a:ext cx="457200" cy="457200"/>
          </a:xfrm>
          <a:prstGeom prst="ellipse">
            <a:avLst/>
          </a:prstGeom>
          <a:solidFill>
            <a:srgbClr val="EEA02B"/>
          </a:solidFill>
          <a:ln w="12700">
            <a:solidFill>
              <a:srgbClr val="EEA0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4453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43000" y="438912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honest backtest answer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143000" y="4800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ready · scale gates the trustworthy P&amp;L (n=1 lesson made tangible).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02920" y="5394960"/>
            <a:ext cx="457200" cy="457200"/>
          </a:xfrm>
          <a:prstGeom prst="ellipse">
            <a:avLst/>
          </a:prstGeom>
          <a:solidFill>
            <a:srgbClr val="EEA02B"/>
          </a:solidFill>
          <a:ln w="12700">
            <a:solidFill>
              <a:srgbClr val="EEA02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54132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143000" y="53492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Halawi-tied story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1143000" y="57607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and crowd are complementary error sources — not competing oracles.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02920" y="630936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you. Questions?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UCLA STATS 211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Live NBA Market Mispricing Detection</dc:title>
  <dc:subject>PptxGenJS Presentation</dc:subject>
  <dc:creator>Ming Yin Ivan Sit &amp; Vishnu Manathattai</dc:creator>
  <cp:lastModifiedBy>Ming Yin Ivan Sit &amp; Vishnu Manathattai</cp:lastModifiedBy>
  <cp:revision>1</cp:revision>
  <dcterms:created xsi:type="dcterms:W3CDTF">2026-05-29T03:55:45Z</dcterms:created>
  <dcterms:modified xsi:type="dcterms:W3CDTF">2026-05-29T03:55:45Z</dcterms:modified>
</cp:coreProperties>
</file>