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6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NBA Market Mispricing Detection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3154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DA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behavioral asset-pricing test of crowd miscalibration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3886200"/>
            <a:ext cx="3200400" cy="73152"/>
          </a:xfrm>
          <a:prstGeom prst="rect">
            <a:avLst/>
          </a:prstGeom>
          <a:solidFill>
            <a:srgbClr val="EEA02B"/>
          </a:solidFill>
          <a:ln w="12700">
            <a:solidFill>
              <a:srgbClr val="EEA0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 Yin Ivan Sit · Vishnu Manathattai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Prof. Xiaowu Dai · Spring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Halawi to live markets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→ final · the bridge (30 sec)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result, one line: 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Halawi et al. (NeurIPS 2024) showed LMs approach the crowd on forecasting Brier (0.179 vs 0.149) — and the buried gem is that a </a:t>
            </a:r>
            <a:pPr indent="0" marL="0">
              <a:buNone/>
            </a:pPr>
            <a:r>
              <a:rPr lang="en-US" sz="1800" b="1" dirty="0">
                <a:solidFill>
                  <a:srgbClr val="EE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 LM + crowd aggregate beats either alone.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 observation: 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miscalibrated, in opposite directions. </a:t>
            </a:r>
            <a:pPr indent="0" marL="0">
              <a:buNone/>
            </a:pPr>
            <a:r>
              <a:rPr lang="en-US" sz="18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hedge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(RLHF). </a:t>
            </a:r>
            <a:pPr indent="0" marL="0">
              <a:buNone/>
            </a:pPr>
            <a:r>
              <a:rPr lang="en-US" sz="18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 overreact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(Moskowitz 2021, Ötting 2022).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886200"/>
            <a:ext cx="11247120" cy="1920240"/>
          </a:xfrm>
          <a:prstGeom prst="roundRect">
            <a:avLst>
              <a:gd name="adj" fmla="val 4762"/>
            </a:avLst>
          </a:prstGeom>
          <a:solidFill>
            <a:srgbClr val="F6F6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023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389120"/>
            <a:ext cx="10698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can we cleanly test the claim that a calibrated model beats the crowd — with fast resolution, real money, and a documented bias?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before any test-set data was touched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11247120" cy="1691640"/>
          </a:xfrm>
          <a:prstGeom prst="roundRect">
            <a:avLst>
              <a:gd name="adj" fmla="val 5405"/>
            </a:avLst>
          </a:prstGeom>
          <a:solidFill>
            <a:srgbClr val="F6F6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calibrated in-game NBA win-probability model systematically identify live-market mispricings driven by crowd overreaction — specifically in trailing-team scoring events?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3520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pre-registered tests: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(primary)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trailing team in 10–15 pt deficit hits a made FG → market over-shifts vs structural model.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(secondary)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trailing team in ≥10 pt deficit hits a made 3-pointer → larger over-shift.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Block-bootstrap by game (n = games, not ticks). Holm-Bonferroni across the pre-registered set.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planned · 6 ways to detect mispricing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constraints forced us down to 2 (highlighted)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937760"/>
                <a:gridCol w="338328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to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Cross-venue consensus deviation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multi-venue in-play odds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⏸  blocked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win-probability vs market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PBP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E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BUILT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Halawi-style weighted aggregate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+ in-play odds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⏸  blocked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Time-series mean-reversion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in-play odds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⏸  blocked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Event-conditioned overreaction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PBP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E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BUILT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Cross-book hard arbitrage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multi-venue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⏸  descriptive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3492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6F6F2"/>
          </a:solidFill>
          <a:ln w="1651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4406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we built are the only two that work from play-by-play alone. The other four are gated on multi-venue in-play odds history we don't have.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· model side + market side meet at the edge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+ system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pic>
        <p:nvPicPr>
          <p:cNvPr id="5" name="Image 0" descr="slides/figures/pipelin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247120" cy="393192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3212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Sportsbook odds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Kalshi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nba_api · 2,460 games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the-odds-api · 9 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API · 1H winner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59,040 rows · 4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calibrated win-probability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· how it works · what comes 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F6F6F2"/>
          </a:solidFill>
          <a:ln w="2032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·  at tick 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game-state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minute_idx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minutes elapsed in 1H (1–24)
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score_diff_home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home – away (signed)
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recent_run_diff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pts diff over last 120s
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quarter (1 or 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vector of 4 numbers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2971800"/>
            <a:ext cx="502920" cy="548640"/>
          </a:xfrm>
          <a:prstGeom prst="rightArrow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46304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2023-24 · 1,199 games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A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trees · depth 4 · lr 0.05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6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A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Isotonic calibration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3840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6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validation fold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6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0.70 truly = 70% empirically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calibrated number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66760" y="2971800"/>
            <a:ext cx="502920" cy="548640"/>
          </a:xfrm>
          <a:prstGeom prst="rightArrow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146304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F6F6F2"/>
          </a:solidFill>
          <a:ln w="20320">
            <a:solidFill>
              <a:srgbClr val="EEA0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15544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06840" y="18745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6840" y="2286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p̂_t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006840" y="27889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P(home wins 1H)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06840" y="31089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in [0, 1]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6840" y="34747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A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  0.87  =  87%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006840" y="39319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0.149  ·  ECE 0.008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06840" y="42062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2024-25 held-out season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06840" y="46634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trustworthy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2578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3F8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349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56692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minute_idx=18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 min left in half),  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score_diff_home=+6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recent_run_diff=+4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period=2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EEA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p̂ = 0.87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result · out-of-sample 2024-25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figure #1 · the probabilities can be trusted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pic>
        <p:nvPicPr>
          <p:cNvPr id="5" name="Image 0" descr="slides/figures/reliability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704088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4173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(lower = better)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18120" y="17830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0.149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818120" y="2496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E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well-calibrated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18120" y="30175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3063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18120" y="33832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0.008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7818120" y="4096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E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miscalibration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18120" y="46177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4663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sample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818120" y="4983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1,230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7818120" y="5696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E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· 2024-25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fall on the diagonal across all deciles — predicted probabilities match observed frequencies.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overreaction test · pre-registered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figure #2 · held-out 2024-25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pic>
        <p:nvPicPr>
          <p:cNvPr id="5" name="Image 0" descr="slides/figures/v5_shif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6766560" cy="45720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554480"/>
          <a:ext cx="4434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91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events / games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— trail 10–15, made FG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4,596 / 947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 — trail ≥10, made 3PT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2,162 / 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269480" y="3337560"/>
            <a:ext cx="44348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452360" y="342900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Δp̂_scorer(t)  =  p̂(t+60) − p̂(t)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452360" y="41605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shift over the 60s after a made FG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269480" y="4754880"/>
            <a:ext cx="4434840" cy="1600200"/>
          </a:xfrm>
          <a:prstGeom prst="roundRect">
            <a:avLst>
              <a:gd name="adj" fmla="val 5714"/>
            </a:avLst>
          </a:prstGeom>
          <a:solidFill>
            <a:srgbClr val="F6F6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52360" y="4846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behavioral question: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452360" y="51663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market shift more than this?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 engine · the equations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honesty gates pass on synthetic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edge_t  =  p̂_t  −  p_market_t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where the variant's fair value disagrees with the de-vigged market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p_devig  =  p_home_raw / (p_home_raw + p_away_raw)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two-way de-vig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51460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EEF3F8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f*  =  ( b · p  −  q ) / 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 fraction · b = decimal−1, q = 1−p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0332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760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Honesty 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6F6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const-0.5 → Brier 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 wired correctly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always-favorite → loses ≈ vig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doesn't invent free money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on biased mkt → +14% ROI, p=0.000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EA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CAN detect a real 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market-as-variant → 0 bets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fake edge against the market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6080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Block-bootstrap by GAME (not tick) — within-game ticks share one outcome; effective n is games.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pilot · SAS @ OKC, 2026-05-26  (FINAL OKC 127–114)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figure #3 · 73 in-1H ticks · 6 books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pic>
        <p:nvPicPr>
          <p:cNvPr id="5" name="Image 0" descr="slides/figures/pilot_ro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68580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417320"/>
            <a:ext cx="4434840" cy="4617720"/>
          </a:xfrm>
          <a:prstGeom prst="roundRect">
            <a:avLst>
              <a:gd name="adj" fmla="val 2062"/>
            </a:avLst>
          </a:prstGeom>
          <a:solidFill>
            <a:srgbClr val="F6F6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5544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lesson IS the result.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589520" y="21031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faded SA (underdog) early when the score was close.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OKC pulled away and won 127–114.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0" y="31089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'Always favorite' looks brilliant — </a:t>
            </a:r>
            <a:pPr indent="0" marL="0">
              <a:buNone/>
            </a:pPr>
            <a:r>
              <a:rPr lang="en-US" sz="13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because the favorite happened to win this one game.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89520" y="45720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</a:t>
            </a:r>
            <a:pPr indent="0" marL="0">
              <a:buNone/>
            </a:pPr>
            <a:r>
              <a:rPr lang="en-US" sz="1300" b="1" dirty="0">
                <a:solidFill>
                  <a:srgbClr val="EE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 problem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made tangible — the methodological backbone of the project.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Liquidity × sample size are everything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family · two opposite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pic>
        <p:nvPicPr>
          <p:cNvPr id="5" name="Image 0" descr="slides/figures/liquidity_s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417320"/>
            <a:ext cx="73152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94360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6F6F2"/>
          </a:solidFill>
          <a:ln w="16510">
            <a:solidFill>
              <a:srgbClr val="EEA0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989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+100% against Kalshi is </a:t>
            </a:r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mid-prices + n=4 + no slippage</a:t>
            </a:r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exactly the trap CLAUDE.md warns about. Real liquid markets are tight.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 back to Halawi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column — applied to NBA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Halawi's buried result:  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4·LM + 1·crowd &gt; either alone — because the errors are </a:t>
            </a:r>
            <a:pPr indent="0" marL="0">
              <a:buNone/>
            </a:pPr>
            <a:r>
              <a:rPr lang="en-US" sz="1800" b="1" i="1" dirty="0">
                <a:solidFill>
                  <a:srgbClr val="EE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structural model and the live market are also </a:t>
            </a:r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independent error sources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model reads game state, market absorbs sentiment + inside flow.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329184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38328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p̂_aggregate  =  w · p_model  +  ( 1 − w ) · p_market_devig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06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'aggregate' variant (#3 in the planned table) — weight from validation Brier · aggregate's Brier ≤ min(components)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846320"/>
            <a:ext cx="11247120" cy="1508760"/>
          </a:xfrm>
          <a:prstGeom prst="roundRect">
            <a:avLst>
              <a:gd name="adj" fmla="val 6061"/>
            </a:avLst>
          </a:prstGeom>
          <a:solidFill>
            <a:srgbClr val="F6F6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349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job isn't to BEAT the market everywhere — it's to COMPLEMENT it in the specific situations where the crowd's bias is strongest (H1 / H4).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size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20440" y="1508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backtest needs ~1,000 liquid-market games. Two paths: paid the-odds-api historical (~$59, one month) or playoff capture (free, accumulating).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20440" y="2651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is 1st-half winner; live demo extended to full-game via parallel model (Brier 0.207). Snapshots are 1H-only — 2nd-half coverage requires rebuilding.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reactivity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3794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 would face adverse selection + sportsbook limits. Kalshi (peer-to-peer) sidesteps the account-limit issue.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Variants V1/V3/V4/V6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4937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ready in the shared eval harness; need multi-venue in-play history to fit &amp; evaluate.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 · what works + can it make money?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questions, answered honestly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47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6F6F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EFFECTIVE METHOD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Event-conditioned overreaction test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variant with a statistically significant finding on the held-out test season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154680"/>
          <a:ext cx="51206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6F6F2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F6F2"/>
                          </a:solidFill>
                        </a:rPr>
                        <a:t>Shift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6F6F2"/>
                          </a:solidFill>
                        </a:rPr>
                        <a:t>p-value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H1 trail 10–15, FG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EA02B"/>
                          </a:solidFill>
                        </a:rPr>
                        <a:t>+0.0075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EA02B"/>
                          </a:solidFill>
                        </a:rPr>
                        <a:t>&lt; 0.0001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H4 trail ≥10, 3PT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EA02B"/>
                          </a:solidFill>
                        </a:rPr>
                        <a:t>+0.0138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EA02B"/>
                          </a:solidFill>
                        </a:rPr>
                        <a:t>&lt; 0.0001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85800" y="4617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pre-registered tests pass on 2024-25 held-out.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4937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the calibrated model (Brier 0.149). The other 4 planned methods are blocked on data.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5486400"/>
            <a:ext cx="512064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4864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6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bias is statistically real.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63640" y="141732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F6F6F2"/>
          </a:solidFill>
          <a:ln w="19050">
            <a:solidFill>
              <a:srgbClr val="EEA0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MAKE MONEY?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46520" y="1920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 — but it's not 'no.'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446520" y="2606040"/>
            <a:ext cx="164592" cy="777240"/>
          </a:xfrm>
          <a:prstGeom prst="rect">
            <a:avLst/>
          </a:prstGeom>
          <a:solidFill>
            <a:srgbClr val="EEA02B"/>
          </a:solidFill>
          <a:ln w="12700">
            <a:solidFill>
              <a:srgbClr val="EEA0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0" y="2606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A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NO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7512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game vs liquid books: n=1 → −40% (noise). Kalshi +95% = stale-mid artifact.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46520" y="3474720"/>
            <a:ext cx="164592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3474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· YES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75120" y="37490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H1/H4 pre-reg passed on the held-out season. The overreaction is real.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46520" y="4343400"/>
            <a:ext cx="164592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4343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· CLEAR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75120" y="4617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the backtest ($59 historical) → V5-targeted strategy on Kalshi (legal, no limits).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46520" y="5486400"/>
            <a:ext cx="512064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54864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6F6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Gated on data scale, not on methodology.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0292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Questions?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211 · NBA Mispricing · Sit &amp; Manathattai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384280" y="6492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UCLA STATS 211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 NBA Market Mispricing Detection</dc:title>
  <dc:subject>PptxGenJS Presentation</dc:subject>
  <dc:creator>Ming Yin Ivan Sit &amp; Vishnu Manathattai</dc:creator>
  <cp:lastModifiedBy>Ming Yin Ivan Sit &amp; Vishnu Manathattai</cp:lastModifiedBy>
  <cp:revision>1</cp:revision>
  <dcterms:created xsi:type="dcterms:W3CDTF">2026-05-29T04:31:45Z</dcterms:created>
  <dcterms:modified xsi:type="dcterms:W3CDTF">2026-05-29T04:31:45Z</dcterms:modified>
</cp:coreProperties>
</file>