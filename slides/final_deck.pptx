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NBA Market Mispricing Detection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3154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DA9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behavioral asset-pricing test of crowd miscalibration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3886200"/>
            <a:ext cx="3200400" cy="73152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 Yin Ivan Sit · Vishnu Manathattai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Prof. Xiaowu Dai · Spring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Halawi to live markets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→ final · the bridge (30 sec)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result, one line: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 et al. (NeurIPS 2024) showed LMs approach the crowd on forecasting Brier (0.179 vs 0.149) — and the buried gem is that a </a:t>
            </a:r>
            <a:pPr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4:1 LM + crowd aggregate beats either alone.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6974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observation: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miscalibrated, in opposite directions.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hedge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(RLHF).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 overreact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(Moskowitz 2021, Ötting 2022).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88620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0233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question: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389120"/>
            <a:ext cx="10698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can we cleanly test the claim that a calibrated model beats the crowd — with fast resolution, real money, and a documented bias?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question, two sub-questions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11247120" cy="1691640"/>
          </a:xfrm>
          <a:prstGeom prst="roundRect">
            <a:avLst>
              <a:gd name="adj" fmla="val 5405"/>
            </a:avLst>
          </a:prstGeom>
          <a:solidFill>
            <a:srgbClr val="F6F6F2"/>
          </a:solidFill>
          <a:ln w="2286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916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we use a calibrated win-probability model to </a:t>
            </a:r>
            <a:pPr indent="0" marL="0">
              <a:buNone/>
            </a:pPr>
            <a:r>
              <a:rPr lang="en-US" sz="22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 mispricing</a:t>
            </a:r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indent="0" marL="0">
              <a:buNone/>
            </a:pPr>
            <a:r>
              <a:rPr lang="en-US" sz="2200" b="1" i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profit from it</a:t>
            </a:r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NBA in-play markets?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3383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Decomposes into two sub-questions we can actually answer: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EEF3F8"/>
          </a:solidFill>
          <a:ln w="19050">
            <a:solidFill>
              <a:srgbClr val="0B25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4206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 bias DETECTABLE?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 the held-out 2024-25 season via pre-registered overreaction tests on trailing-team scoring events.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760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answered on the overreaction-test slide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EEF3F8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46520" y="4206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we EXTRACT it (make money)?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446520" y="470916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via live backtest on real markets — does the edge survive the vig at a sample large enough to distinguish skill from luck?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5760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answered on the live-pilot + verdict slides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planned · 6 ways to detect mispricing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constraints forced us down to 2 (highlighted)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94640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160520"/>
                <a:gridCol w="2834640"/>
                <a:gridCol w="2011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to 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Cross-venue consensus deviation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in-play odds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win-probability vs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Halawi-style weighted aggregate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 + 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Time-series mean-reversion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Event-conditioned overreaction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Cross-book hard arbitrage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descriptive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10012680" y="2542032"/>
            <a:ext cx="502920" cy="274320"/>
          </a:xfrm>
          <a:prstGeom prst="leftArrow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607040" y="2496312"/>
            <a:ext cx="1143000" cy="365760"/>
          </a:xfrm>
          <a:prstGeom prst="roundRect">
            <a:avLst>
              <a:gd name="adj" fmla="val 125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607040" y="2496312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012680" y="4050792"/>
            <a:ext cx="502920" cy="274320"/>
          </a:xfrm>
          <a:prstGeom prst="leftArrow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607040" y="4005072"/>
            <a:ext cx="1143000" cy="365760"/>
          </a:xfrm>
          <a:prstGeom prst="roundRect">
            <a:avLst>
              <a:gd name="adj" fmla="val 12500"/>
            </a:avLst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607040" y="4005072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534924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F6F6F2"/>
          </a:solidFill>
          <a:ln w="16510">
            <a:solidFill>
              <a:srgbClr val="1C729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" y="544068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 we built — </a:t>
            </a:r>
            <a:pPr algn="ctr" indent="0" marL="0">
              <a:buNone/>
            </a:pPr>
            <a:r>
              <a:rPr lang="en-US" sz="15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 </a:t>
            </a:r>
            <a:pPr algn="ctr" indent="0" marL="0">
              <a:buNone/>
            </a:pPr>
            <a:r>
              <a:rPr lang="en-US" sz="15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algn="ctr" indent="0" marL="0">
              <a:buNone/>
            </a:pPr>
            <a:r>
              <a:rPr lang="en-US" sz="1500" b="1" i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 </a:t>
            </a:r>
            <a:pPr algn="ctr" indent="0" marL="0">
              <a:buNone/>
            </a:pPr>
            <a:r>
              <a:rPr lang="en-US" sz="15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are the only ones that work from play-by-play alone. The other four are gated on multi-venue in-play odds history we don't have.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· model side + market side meet at the edge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+ system 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peline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247120" cy="393192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32120"/>
          <a:ext cx="11247120" cy="91440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Sportsbook odds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Kalshi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nba_api · 2,460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the-odds-api · 9 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API · 1H winner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59,040 rows · 4 features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 · how it 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calibrated WP model  ·  what goes in, what comes out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 ·  at tick 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game-state features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minutes elapsed in 1H (1–24)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home – away (signed)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pts diff over last 120s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quarter (1 or 2)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 vector of 4 numbers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2023-24 · 1,199 games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54880" y="26517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6F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 trees · depth 4 · lr 0.05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30175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754880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Isotonic calibration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38404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held-out validation fold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0.70 truly = 70% empirically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calibrated number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36676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06840" y="1463040"/>
            <a:ext cx="2788920" cy="3566160"/>
          </a:xfrm>
          <a:prstGeom prst="roundRect">
            <a:avLst>
              <a:gd name="adj" fmla="val 3279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06840" y="155448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006840" y="18745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probability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06840" y="22860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006840" y="27889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P(home wins 1H)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31089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in [0, 1]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347472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e.g.  0.87  =  87%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006840" y="39319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calibrated probability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minute of game time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006840" y="46634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used by Method 2 + the backtest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52578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349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77240" y="56692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minute_idx=18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 min left in half),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score_diff_home=+6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recent_run_diff=+4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period=2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 = 0.87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1 · Our model is well-calibrated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· ECE 0.008 · reliability on the diagonal (2024-25 held-out)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reliability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937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4173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18120" y="14630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(lower = better)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18120" y="17830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0.149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818120" y="24963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well-calibrated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30175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30632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0.008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7818120" y="40965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miscalibration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18120" y="46177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18120" y="4663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sample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818120" y="49834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1,230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7818120" y="56967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· 2024-25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355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fall on the diagonal across all deciles — predicted probabilities match observed frequencies.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 · how it 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statistical test  ·  measures bias · does not gate trades in this work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streams joined per event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Method 1: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p̂_t  (every minute, full game)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PBP: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trailing-team scoring events,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filtered by pre-registered rule: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comeback FG (trail 10–15)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salience 3PT (trail ≥10)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~6,800 events / 1,300 games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event at time t 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28600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look up p̂(t)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and p̂(t+60s)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 Δp̂  =  p̂(t+60) − p̂(t)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average within game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(block-bootstrap by GAME)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10,000 resamples →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95% CI  +  p-value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honest CI (effective n = games)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36676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06840" y="1463040"/>
            <a:ext cx="2788920" cy="3566160"/>
          </a:xfrm>
          <a:prstGeom prst="roundRect">
            <a:avLst>
              <a:gd name="adj" fmla="val 3279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06840" y="155448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006840" y="18745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event-class: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006840" y="22860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006840" y="27889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shift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scoring team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006840" y="33832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+ 95% CI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006840" y="37033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p-value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006840" y="46634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does the bias exist?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52578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3492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event: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56692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trailing 12, made 3PT at game-min 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p̂(t) = 0.18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p̂(t+60s) = 0.22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5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 = +0.04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2 · The market overshoots on trailing-team scoring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 at p &lt; 0.0001 (held-out 2024-25)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v5_shif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766560" cy="457200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554480"/>
          <a:ext cx="4434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916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events /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Comeback FG · trail 10–15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4,596 / 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Salience 3PT · trail ≥10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2,162 / 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269480" y="3337560"/>
            <a:ext cx="4434840" cy="1280160"/>
          </a:xfrm>
          <a:prstGeom prst="roundRect">
            <a:avLst>
              <a:gd name="adj" fmla="val 5714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452360" y="342900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Δp̂_scorer(t)  =  p̂(t+60) − p̂(t)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7452360" y="416052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shift over the 60s after a made FG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69480" y="4754880"/>
            <a:ext cx="4434840" cy="1600200"/>
          </a:xfrm>
          <a:prstGeom prst="roundRect">
            <a:avLst>
              <a:gd name="adj" fmla="val 5714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52360" y="48463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behavioral question: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452360" y="516636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market shift more than this?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 vs Method 2 · the asymmetry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 drives every trade · Method 2 proved the bias but didn't trade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6F6F2"/>
          </a:solidFill>
          <a:ln w="22860">
            <a:solidFill>
              <a:srgbClr val="0B25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5349240" cy="5029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 · the TRADING signal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993392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(active component)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2860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computes </a:t>
            </a:r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edge_t  =  p̂_t − p_market_t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6974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|edge| &gt; threshold  →  BET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1089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sign of edge → which side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3520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p̂_t → Kelly stake size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4023360"/>
            <a:ext cx="5029200" cy="36576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41605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bets, 100% of P&amp;L 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backtest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46634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on:  </a:t>
            </a:r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5 (sportsbook)  +  Kalshi pool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52160" y="32918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8DA9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355080" y="1417320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55080" y="1417320"/>
            <a:ext cx="5394960" cy="502920"/>
          </a:xfrm>
          <a:prstGeom prst="rect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141732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 · the FINDING (not a trader)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55080" y="199339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(diagnostic only · footnote)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37960" y="228600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measures </a:t>
            </a:r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Δp̂(60s)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trailing-team events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7960" y="269748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block-bootstrap by game → CI, p-value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37960" y="31089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is a NUMBER + p-value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7960" y="352044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not a bet decision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37960" y="4023360"/>
            <a:ext cx="5074920" cy="36576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37960" y="416052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bets, 0 P&amp;L 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backtest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37960" y="466344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 </a:t>
            </a:r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statistical finding (Finding 2) — proof the bias exists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56692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669280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· </a:t>
            </a:r>
            <a:pPr algn="ctr" indent="0" marL="0">
              <a:buNone/>
            </a:pPr>
            <a:r>
              <a:rPr lang="en-US" sz="16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 was a diagnostic, not a trader.  Wiring it into the trade decision (the targeted strategy) is the natural next step.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Backtest engine · the equations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 honesty gates pass on synthetic data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087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edge_t  =  p̂_t  −  p_market_t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where the variant's fair value disagrees with the de-vigged market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p_devig  =  p_home_raw / (p_home_raw + p_away_raw)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multiplicative two-way de-vig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f*  =  ( b · p  −  q ) / 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4652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Kelly fraction · b = decimal−1, q = 1−p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7033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760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Honesty 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const-0.5 → Brier 0.25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wired correctly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always-favorite → loses ≈ vig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doesn't invent free money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on biased mkt → +14% ROI, p=0.000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CAN detect a real edge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market-as-variant → 0 bets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fake edge against the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02920" y="6080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Block-bootstrap by GAME (not tick) — within-game ticks share one outcome; effective n is games.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3 · Against liquid books, n=1 is pure noise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pilot: SAS @ OKC, 2026-05-26 (FINAL OKC 127–114) · 73 ticks · 6 books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lot_ro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85800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60920" y="1417320"/>
            <a:ext cx="4434840" cy="4617720"/>
          </a:xfrm>
          <a:prstGeom prst="roundRect">
            <a:avLst>
              <a:gd name="adj" fmla="val 20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89520" y="1554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lesson IS the result.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589520" y="210312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faded SA (underdog) early when the score was close.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89520" y="26060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OKC pulled away and won 127–114.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0" y="310896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'Always favorite' looks brilliant —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because the favorite happened to win this one game.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89520" y="457200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 problem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tangible — the methodological backbone of the project.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4 · The Kalshi +95% is a stale-mid artifact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6 (OKC@SAS, 2026-05-28, FINAL SAS 118–91) + 4 archived games · 311 ticks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game6_pi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371600"/>
            <a:ext cx="905256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6F6F2"/>
          </a:solidFill>
          <a:ln w="16510">
            <a:solidFill>
              <a:srgbClr val="EEA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760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6 alone: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+12% on Kalshi 1H (smallest of the 5). 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of 5: +95%.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Kalshi 1H prices were thin and stale, so the model 'beats' a price that isn't moving —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stale-mid + n=5 + mid quotes = artifact, not edge.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Connecting back to Halawi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column — applied to NBA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Halawi's buried result: 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4·LM + 1·crowd &gt; either alone — because the errors are </a:t>
            </a:r>
            <a:pPr indent="0" marL="0">
              <a:buNone/>
            </a:pPr>
            <a:r>
              <a:rPr lang="en-US" sz="1800" b="1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19456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structural model and the live market are also </a:t>
            </a:r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partly independent error sources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model reads game state, market absorbs sentiment + inside flow.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29184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3832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p̂_aggregate  =  w · p_model  +  ( 1 − w ) · p_market_devig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4206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'aggregate' variant (#3 in the planned table) — weight from validation Brier · aggregate's Brier ≤ min(components)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846320"/>
            <a:ext cx="11247120" cy="1508760"/>
          </a:xfrm>
          <a:prstGeom prst="roundRect">
            <a:avLst>
              <a:gd name="adj" fmla="val 6061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Reframing: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53492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job isn't to BEAT the market everywhere — it's to COMPLEMENT it in the specific situations (comeback FG, salience 3PT) where the crowd's bias is strongest.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we'd do next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 didn't trade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52044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 was a statistical diagnostic — proved the bias but did not gate any trades in the backtest. Natural next step: filter Method 1's edges to Method 2's event windows.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4231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size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520440" y="24231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backtest needs ~1,000 liquid-market games. Paid the-odds-api historical (~$59, one month) or playoff capture (free, accumulating).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3383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Horizon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20440" y="3383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is 1st-half-only; live demo extended to full-game via parallel model. 2nd-half coverage requires rebuilding snapshots.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43434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reactivity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20440" y="4343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deployment would face adverse selection + sportsbook limits. Kalshi (peer-to-peer) sidesteps the account-limit issue.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53035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Other 4 planned methods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20440" y="53035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Architecturally ready in the shared eval harness; need multi-venue in-play history to fit &amp; evaluate.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Verdict · what works + can it make money?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questions, answered honestly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EFFECTIVE METHOD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Event-conditioned overreaction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42316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variant with a statistically significant finding on the held-out test season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154680"/>
          <a:ext cx="51206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1325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Test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Shift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p-value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Comeback FG (trail 10–15)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+0.0075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Salience 3PT (trail ≥10)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+0.0138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85800" y="4617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 on 2024-25 held-out.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85800" y="49377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the calibrated model (Brier 0.149). The other 4 planned methods are blocked on data.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bias is statistically real.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6364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MAKE MONEY?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yet — but it's not 'no.'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446520" y="2606040"/>
            <a:ext cx="164592" cy="777240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75120" y="26060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· NO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675120" y="28803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vs liquid books: n=1 → −40% (noise). Kalshi +95% = stale-mid artifact.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46520" y="3474720"/>
            <a:ext cx="164592" cy="7772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0" y="34747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· YES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675120" y="37490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passed on the held-out season. The overreaction is real.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46520" y="4343400"/>
            <a:ext cx="164592" cy="7772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75120" y="4343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· CLEAR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675120" y="46177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the backtest ($59 historical) → V5-targeted strategy on Kalshi (legal, no limits).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Gated on data scale, not on methodology.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502920" y="63550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Questions?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UCLA STATS 211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 NBA Market Mispricing Detection</dc:title>
  <dc:subject>PptxGenJS Presentation</dc:subject>
  <dc:creator>Ming Yin Ivan Sit &amp; Vishnu Manathattai</dc:creator>
  <cp:lastModifiedBy>Ming Yin Ivan Sit &amp; Vishnu Manathattai</cp:lastModifiedBy>
  <cp:revision>1</cp:revision>
  <dcterms:created xsi:type="dcterms:W3CDTF">2026-05-30T03:02:07Z</dcterms:created>
  <dcterms:modified xsi:type="dcterms:W3CDTF">2026-05-30T03:02:07Z</dcterms:modified>
</cp:coreProperties>
</file>